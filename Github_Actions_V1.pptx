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6" r:id="rId7"/>
    <p:sldId id="270" r:id="rId8"/>
    <p:sldId id="271" r:id="rId9"/>
    <p:sldId id="272" r:id="rId10"/>
    <p:sldId id="273" r:id="rId11"/>
    <p:sldId id="274" r:id="rId12"/>
    <p:sldId id="275" r:id="rId13"/>
    <p:sldId id="261" r:id="rId14"/>
    <p:sldId id="262" r:id="rId15"/>
    <p:sldId id="263" r:id="rId16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8" autoAdjust="0"/>
    <p:restoredTop sz="95253" autoAdjust="0"/>
  </p:normalViewPr>
  <p:slideViewPr>
    <p:cSldViewPr snapToGrid="0" snapToObjects="1">
      <p:cViewPr varScale="1">
        <p:scale>
          <a:sx n="87" d="100"/>
          <a:sy n="87" d="100"/>
        </p:scale>
        <p:origin x="72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5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687586"/>
            <a:ext cx="8083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dirty="0" smtClean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⚙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30352" y="1982986"/>
            <a:ext cx="808329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2EA44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GitHub Actions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30352" y="3164086"/>
            <a:ext cx="8083296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6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CI/CD </a:t>
            </a:r>
            <a:r>
              <a:rPr lang="en-US" sz="1680" dirty="0" smtClean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</a:t>
            </a:r>
            <a:endParaRPr lang="en-US" sz="1680" dirty="0"/>
          </a:p>
        </p:txBody>
      </p:sp>
      <p:sp>
        <p:nvSpPr>
          <p:cNvPr id="9" name="Rectangle 8"/>
          <p:cNvSpPr/>
          <p:nvPr/>
        </p:nvSpPr>
        <p:spPr>
          <a:xfrm>
            <a:off x="530352" y="4069080"/>
            <a:ext cx="14630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1" y="408736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Workflows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19" y="4069080"/>
            <a:ext cx="1463040" cy="41148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39" y="408736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4069080"/>
            <a:ext cx="14630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7" y="408736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48655" y="4069080"/>
            <a:ext cx="1463040" cy="4114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94376" y="408736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1424" y="4069080"/>
            <a:ext cx="146304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408736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Runners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600" y="45943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745182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</a:t>
            </a:r>
            <a:r>
              <a:rPr lang="en-US" sz="3360" b="1" dirty="0" smtClean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Next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800100" y="1880443"/>
            <a:ext cx="357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2299543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GitHub Actions?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100" y="2554784"/>
            <a:ext cx="350520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Platform for automating developer workflows — beyond just CI/CD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38700" y="1880443"/>
            <a:ext cx="357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38700" y="2299543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Basic Concepts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38700" y="2554784"/>
            <a:ext cx="350520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Events, Actions, Workflows, Jobs, Runners — the core building blocks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" y="3453705"/>
            <a:ext cx="357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0100" y="3872805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CI/CD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" y="4128046"/>
            <a:ext cx="350520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GitHub Actions beats Jenkins and standalone CI/CD tools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38700" y="3453705"/>
            <a:ext cx="357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38700" y="3872805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Hands-On Demo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38700" y="4128046"/>
            <a:ext cx="350520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 + Gradle → Docker image → push to DockerHub private repo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42220"/>
            <a:ext cx="2539901" cy="1596033"/>
          </a:xfrm>
          <a:prstGeom prst="roundRect">
            <a:avLst>
              <a:gd name="adj" fmla="val 687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01" y="2042220"/>
            <a:ext cx="2540050" cy="1596033"/>
          </a:xfrm>
          <a:prstGeom prst="roundRect">
            <a:avLst>
              <a:gd name="adj" fmla="val 687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50" y="2042220"/>
            <a:ext cx="2539901" cy="1596033"/>
          </a:xfrm>
          <a:prstGeom prst="roundRect">
            <a:avLst>
              <a:gd name="adj" fmla="val 687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866852"/>
            <a:ext cx="7924800" cy="704850"/>
          </a:xfrm>
          <a:prstGeom prst="roundRect">
            <a:avLst>
              <a:gd name="adj" fmla="val 10378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571798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857548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GitHub Actions?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609600" y="1573709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2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platform to </a:t>
            </a:r>
            <a:r>
              <a:rPr lang="en-US" sz="12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developer workflows</a:t>
            </a:r>
            <a:r>
              <a:rPr lang="en-US" sz="12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CI/CD is just one of many use cases.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778511" y="2232720"/>
            <a:ext cx="220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8511" y="2766120"/>
            <a:ext cx="22020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Listen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800100" y="3082230"/>
            <a:ext cx="21589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events happening in/to your repository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3470810" y="2232720"/>
            <a:ext cx="2202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0810" y="2766120"/>
            <a:ext cx="220223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Trigger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3492401" y="3082230"/>
            <a:ext cx="215905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execute workflows when events occur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163261" y="2232720"/>
            <a:ext cx="220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63261" y="2766120"/>
            <a:ext cx="22020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184850" y="3082230"/>
            <a:ext cx="21589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chained actions — build, test, deploy, notify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762000" y="4019252"/>
            <a:ext cx="762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💡 Key insight: GitHub Actions is not just a CI/CD tool. It automates any developer workflow — issue triage, contributor greetings, release notes, version tagging, and more.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09600" y="614214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Developer Workflow Examples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800100" y="1673275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🐛 Issue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0100" y="2004715"/>
            <a:ext cx="3505200" cy="87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Auto-label new issues (bug / feature / urgent)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 to the right contributor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script to check reproducibility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 "reproducible / not reproducible" comment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38700" y="1673275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🤝 Pull Request Workflows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38700" y="2004715"/>
            <a:ext cx="3505200" cy="87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Trigger build pipeline on PR to master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automated tests to verify the fix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Block merge if tests fail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Auto-merge when all checks pass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" y="3415605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📦 Release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100" y="3747046"/>
            <a:ext cx="3505200" cy="87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Auto-generate release notes on merge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Bump version tags automatically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and publish artifacts to repositories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Notify users of new releases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38700" y="3415605"/>
            <a:ext cx="3575304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👋 Community Automation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38700" y="3747046"/>
            <a:ext cx="3505200" cy="877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Greet new contributors automatically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Stale issue/PR cleanup after 30 days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"first-time contributor" label</a:t>
            </a:r>
            <a:endParaRPr lang="en-US" sz="110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 maintainer reminders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09600" y="617637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GitHub Actions Works</a:t>
            </a:r>
            <a:endParaRPr lang="en-US" sz="3360" dirty="0"/>
          </a:p>
        </p:txBody>
      </p:sp>
      <p:sp>
        <p:nvSpPr>
          <p:cNvPr id="9" name="Text 7"/>
          <p:cNvSpPr/>
          <p:nvPr/>
        </p:nvSpPr>
        <p:spPr>
          <a:xfrm>
            <a:off x="800100" y="1676698"/>
            <a:ext cx="22020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0100" y="2095798"/>
            <a:ext cx="2202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" y="2400598"/>
            <a:ext cx="2202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Triggers that initiate workflows: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2659559"/>
            <a:ext cx="2158901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push to a branch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pull_request created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issues opened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 (cron)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92401" y="1676698"/>
            <a:ext cx="22022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92401" y="2095798"/>
            <a:ext cx="2202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2401" y="2400598"/>
            <a:ext cx="22022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YAML file in .github/workflows/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2401" y="2659559"/>
            <a:ext cx="215905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Defines jobs to run on event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Jobs contain sequential steps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Multiple workflows per repo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Triggered by one or more events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4850" y="1676698"/>
            <a:ext cx="22020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4850" y="2095798"/>
            <a:ext cx="2202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84850" y="2400598"/>
            <a:ext cx="2202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Reusable units of work: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84850" y="2659559"/>
            <a:ext cx="2158901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actions/checkout@v3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actions/setup-java@v3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Community Marketplace</a:t>
            </a:r>
            <a:endParaRPr lang="en-US" sz="1050" dirty="0"/>
          </a:p>
          <a:p>
            <a:pPr marL="342900" indent="-342900">
              <a:lnSpc>
                <a:spcPts val="1530"/>
              </a:lnSpc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 action.yml files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000" y="3931741"/>
            <a:ext cx="1943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8699" y="3960316"/>
            <a:ext cx="5932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4293691"/>
            <a:ext cx="358140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 of steps running on the same Runner. Jobs run in parallel by default; use  to sequence them.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931741"/>
            <a:ext cx="1943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🖥️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67300" y="3960316"/>
            <a:ext cx="726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Runners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4293691"/>
            <a:ext cx="358140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GitHub-managed servers that execute jobs. Fresh VM per job. Options: Ubuntu, Windows, macOS.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Calibri"/>
              </a:rPr>
              <a:t>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91" y="1268730"/>
            <a:ext cx="4457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34155"/>
                </a:solidFill>
                <a:latin typeface="Calibri"/>
              </a:rPr>
              <a:t>A workflow is a configurable automated process defined in a YAML file. It lives in your repository under .</a:t>
            </a:r>
            <a:r>
              <a:rPr sz="1400" b="1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sz="1400" b="1" dirty="0">
                <a:solidFill>
                  <a:srgbClr val="334155"/>
                </a:solidFill>
                <a:latin typeface="Calibri"/>
              </a:rPr>
              <a:t>/workflows/ and runs when triggered by an event. A single repository can have MULTIPLE workflow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091" y="2434590"/>
            <a:ext cx="4457700" cy="5829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344091" y="2434590"/>
            <a:ext cx="68580" cy="58293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15541" y="2489454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  <a:latin typeface="Calibri"/>
              </a:rPr>
              <a:t>🧪  Build &amp; Test Pull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541" y="2750058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334155"/>
                </a:solidFill>
                <a:latin typeface="Calibri"/>
              </a:rPr>
              <a:t>Run tests on every PR before merging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091" y="3099815"/>
            <a:ext cx="4457700" cy="5829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344091" y="3099815"/>
            <a:ext cx="68580" cy="58293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15541" y="315468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🚀  Deploy on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541" y="3415284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4155"/>
                </a:solidFill>
                <a:latin typeface="Calibri"/>
              </a:rPr>
              <a:t>Auto-deploy app every time a release is created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091" y="3765041"/>
            <a:ext cx="4457700" cy="5829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344091" y="3765041"/>
            <a:ext cx="68580" cy="58293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515541" y="3819905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🏷️  Auto-label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541" y="4080510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4155"/>
                </a:solidFill>
                <a:latin typeface="Calibri"/>
              </a:rPr>
              <a:t>Add a label whenever a new issue is opened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7531" y="1234440"/>
            <a:ext cx="3909060" cy="2400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5144691" y="1337311"/>
            <a:ext cx="3634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  <a:latin typeface="Calibri"/>
              </a:rPr>
              <a:t>📁  .github/workflows/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4691" y="1680210"/>
            <a:ext cx="36347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  <a:latin typeface="Calibri"/>
              </a:rPr>
              <a:t>your-repo/
  ├── src/
  └── .github/
        └── workflows/
              ├── ci.yml
              ├── deploy.yml
              └── labeler.yml</a:t>
            </a:r>
          </a:p>
        </p:txBody>
      </p:sp>
    </p:spTree>
    <p:extLst>
      <p:ext uri="{BB962C8B-B14F-4D97-AF65-F5344CB8AC3E}">
        <p14:creationId xmlns:p14="http://schemas.microsoft.com/office/powerpoint/2010/main" val="364988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91" y="1268730"/>
            <a:ext cx="8455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334155"/>
                </a:solidFill>
                <a:latin typeface="Calibri"/>
              </a:rPr>
              <a:t>An event is a specific activity in your repository that triggers a workflow run. Think of events as the "start signal" for your automation.</a:t>
            </a:r>
            <a:endParaRPr sz="140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5511" y="1988820"/>
            <a:ext cx="19888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ectangle 7"/>
          <p:cNvSpPr/>
          <p:nvPr/>
        </p:nvSpPr>
        <p:spPr>
          <a:xfrm>
            <a:off x="275511" y="1988820"/>
            <a:ext cx="1988820" cy="6858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344091" y="2125980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72A"/>
                </a:solidFill>
                <a:latin typeface="Calibri"/>
              </a:rPr>
              <a:t>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091" y="2537460"/>
            <a:ext cx="1783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066"/>
                </a:solidFill>
                <a:latin typeface="Calibri"/>
              </a:rP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091" y="2846071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334155"/>
                </a:solidFill>
                <a:latin typeface="Calibri"/>
              </a:rPr>
              <a:t>Someone pushes a commit to a branch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1491" y="1988820"/>
            <a:ext cx="19888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Rectangle 12"/>
          <p:cNvSpPr/>
          <p:nvPr/>
        </p:nvSpPr>
        <p:spPr>
          <a:xfrm>
            <a:off x="2401491" y="1988820"/>
            <a:ext cx="1988820" cy="6858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2470071" y="2125980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72A"/>
                </a:solidFill>
                <a:latin typeface="Calibri"/>
              </a:rPr>
              <a:t>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0071" y="2537460"/>
            <a:ext cx="1783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066"/>
                </a:solidFill>
                <a:latin typeface="Calibri"/>
              </a:rPr>
              <a:t>pull_request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0071" y="2846071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A PR is opened, updated, or merged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7471" y="1988820"/>
            <a:ext cx="19888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4527471" y="1988820"/>
            <a:ext cx="1988820" cy="6858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4596050" y="2125980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72A"/>
                </a:solidFill>
                <a:latin typeface="Calibri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6050" y="2537460"/>
            <a:ext cx="1783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066"/>
                </a:solidFill>
                <a:latin typeface="Calibri"/>
              </a:rPr>
              <a:t>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6050" y="2846071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Cron-based timer (e.g., every night at midnight)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53451" y="1988820"/>
            <a:ext cx="19888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Rectangle 22"/>
          <p:cNvSpPr/>
          <p:nvPr/>
        </p:nvSpPr>
        <p:spPr>
          <a:xfrm>
            <a:off x="6653451" y="1988820"/>
            <a:ext cx="1988820" cy="6858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722030" y="2125980"/>
            <a:ext cx="1783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72A"/>
                </a:solidFill>
                <a:latin typeface="Calibri"/>
              </a:rPr>
              <a:t>🖱️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2030" y="2537460"/>
            <a:ext cx="1783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066"/>
                </a:solidFill>
                <a:latin typeface="Calibri"/>
              </a:rPr>
              <a:t>workflow_dispatch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2030" y="2846071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Manual trigger via GitHub UI or REST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091" y="3669030"/>
            <a:ext cx="8455914" cy="1028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481251" y="3806190"/>
            <a:ext cx="8161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86EFAC"/>
                </a:solidFill>
                <a:latin typeface="Calibri"/>
              </a:rPr>
              <a:t>on:  push: {branches: [main]}   </a:t>
            </a:r>
            <a:r>
              <a:rPr sz="1600" dirty="0" err="1">
                <a:solidFill>
                  <a:srgbClr val="86EFAC"/>
                </a:solidFill>
                <a:latin typeface="Calibri"/>
              </a:rPr>
              <a:t>pull_request</a:t>
            </a:r>
            <a:r>
              <a:rPr sz="1600" dirty="0">
                <a:solidFill>
                  <a:srgbClr val="86EFAC"/>
                </a:solidFill>
                <a:latin typeface="Calibri"/>
              </a:rPr>
              <a:t>:   schedule: [{</a:t>
            </a:r>
            <a:r>
              <a:rPr sz="1600" dirty="0" err="1">
                <a:solidFill>
                  <a:srgbClr val="86EFAC"/>
                </a:solidFill>
                <a:latin typeface="Calibri"/>
              </a:rPr>
              <a:t>cron</a:t>
            </a:r>
            <a:r>
              <a:rPr sz="1600" dirty="0">
                <a:solidFill>
                  <a:srgbClr val="86EFAC"/>
                </a:solidFill>
                <a:latin typeface="Calibri"/>
              </a:rPr>
              <a:t>: '0 6 * * *'}]   </a:t>
            </a:r>
            <a:r>
              <a:rPr sz="1600" dirty="0" err="1">
                <a:solidFill>
                  <a:srgbClr val="86EFAC"/>
                </a:solidFill>
                <a:latin typeface="Calibri"/>
              </a:rPr>
              <a:t>workflow_dispatch</a:t>
            </a:r>
            <a:r>
              <a:rPr sz="1600" dirty="0">
                <a:solidFill>
                  <a:srgbClr val="86EFAC"/>
                </a:solidFill>
                <a:latin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71942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Calibri"/>
              </a:rPr>
              <a:t>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91" y="1268730"/>
            <a:ext cx="4457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4155"/>
                </a:solidFill>
                <a:latin typeface="Calibri"/>
              </a:rPr>
              <a:t>A job is a set of steps executed on the same runner. Steps run in order and can share data. By default, all jobs run IN PARALLEL unless you define dependencies with 'needs:'.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091" y="2228850"/>
            <a:ext cx="4457700" cy="7200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344091" y="2228850"/>
            <a:ext cx="68580" cy="72009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15541" y="2297430"/>
            <a:ext cx="4114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⚡ Parallel by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541" y="2585466"/>
            <a:ext cx="4114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334155"/>
                </a:solidFill>
                <a:latin typeface="Calibri"/>
              </a:rPr>
              <a:t>Multiple jobs run simultaneously unless you set a dependency with needs: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091" y="3031236"/>
            <a:ext cx="4457700" cy="7200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344091" y="3031236"/>
            <a:ext cx="68580" cy="7200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15541" y="3099815"/>
            <a:ext cx="4114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🔗 Job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541" y="3387852"/>
            <a:ext cx="4114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334155"/>
                </a:solidFill>
                <a:latin typeface="Calibri"/>
              </a:rPr>
              <a:t>Use needs: [build] to wait for another job before starting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091" y="3833622"/>
            <a:ext cx="4457700" cy="7200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344091" y="3833622"/>
            <a:ext cx="68580" cy="7200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515541" y="3902202"/>
            <a:ext cx="4114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🔢 Matrix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541" y="4190238"/>
            <a:ext cx="4114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334155"/>
                </a:solidFill>
                <a:latin typeface="Calibri"/>
              </a:rPr>
              <a:t>Run same job across multiple OS/language combos automatically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7531" y="1234440"/>
            <a:ext cx="390906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5144691" y="1371600"/>
            <a:ext cx="36347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alibri"/>
              </a:rPr>
              <a:t>jobs:
  build:
    runs-on: </a:t>
            </a:r>
            <a:r>
              <a:rPr sz="1200" dirty="0" err="1">
                <a:solidFill>
                  <a:srgbClr val="E2E8F0"/>
                </a:solidFill>
                <a:latin typeface="Calibri"/>
              </a:rPr>
              <a:t>ubuntu</a:t>
            </a:r>
            <a:r>
              <a:rPr sz="1200" dirty="0">
                <a:solidFill>
                  <a:srgbClr val="E2E8F0"/>
                </a:solidFill>
                <a:latin typeface="Calibri"/>
              </a:rPr>
              <a:t>-latest
    steps:
      - name: Run tests
        run: </a:t>
            </a:r>
            <a:r>
              <a:rPr sz="1200" dirty="0" err="1">
                <a:solidFill>
                  <a:srgbClr val="E2E8F0"/>
                </a:solidFill>
                <a:latin typeface="Calibri"/>
              </a:rPr>
              <a:t>npm</a:t>
            </a:r>
            <a:r>
              <a:rPr sz="1200" dirty="0">
                <a:solidFill>
                  <a:srgbClr val="E2E8F0"/>
                </a:solidFill>
                <a:latin typeface="Calibri"/>
              </a:rPr>
              <a:t> test
  deploy:
    needs: [build]
    # Waits for build to pass
    runs-on: </a:t>
            </a:r>
            <a:r>
              <a:rPr sz="1200" dirty="0" err="1">
                <a:solidFill>
                  <a:srgbClr val="E2E8F0"/>
                </a:solidFill>
                <a:latin typeface="Calibri"/>
              </a:rPr>
              <a:t>ubuntu</a:t>
            </a:r>
            <a:r>
              <a:rPr sz="1200" dirty="0">
                <a:solidFill>
                  <a:srgbClr val="E2E8F0"/>
                </a:solidFill>
                <a:latin typeface="Calibri"/>
              </a:rPr>
              <a:t>-latest
    steps:
      - name: Deploy
        run: ./deploy.sh</a:t>
            </a:r>
          </a:p>
        </p:txBody>
      </p:sp>
    </p:spTree>
    <p:extLst>
      <p:ext uri="{BB962C8B-B14F-4D97-AF65-F5344CB8AC3E}">
        <p14:creationId xmlns:p14="http://schemas.microsoft.com/office/powerpoint/2010/main" val="1452063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91" y="1268730"/>
            <a:ext cx="44577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334155"/>
                </a:solidFill>
                <a:latin typeface="Calibri"/>
              </a:rPr>
              <a:t>An action is a pre-defined, reusable task unit that performs a specific job within a workflow step. They are the building blocks that reduce repetitive code. Use them from the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Marketplace or write your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091" y="2400300"/>
            <a:ext cx="44577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344091" y="2400300"/>
            <a:ext cx="68580" cy="60350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15541" y="2455165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📦  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541" y="272262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4155"/>
                </a:solidFill>
                <a:latin typeface="Calibri"/>
              </a:rPr>
              <a:t>Pulls your Git repository onto the runner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091" y="3086100"/>
            <a:ext cx="44577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344091" y="3086100"/>
            <a:ext cx="68580" cy="60350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515541" y="3140965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⚙️  actions/setup-node@v4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541" y="340842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4155"/>
                </a:solidFill>
                <a:latin typeface="Calibri"/>
              </a:rPr>
              <a:t>Installs Node.js toolchain for your builds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091" y="3771900"/>
            <a:ext cx="44577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344091" y="3771900"/>
            <a:ext cx="68580" cy="60350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515541" y="3826765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🐳  docker/build-push-action@v5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541" y="409422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4155"/>
                </a:solidFill>
                <a:latin typeface="Calibri"/>
              </a:rPr>
              <a:t>Builds and pushes Docker images to 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091" y="4457700"/>
            <a:ext cx="44577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344091" y="4457700"/>
            <a:ext cx="68580" cy="60350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515541" y="4512565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☁️  aws-actions/configure-aws-credentials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541" y="478002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4155"/>
                </a:solidFill>
                <a:latin typeface="Calibri"/>
              </a:rPr>
              <a:t>Sets up AWS auth for cloud deployments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7531" y="1234440"/>
            <a:ext cx="3909060" cy="3429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5144691" y="1371600"/>
            <a:ext cx="36347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E2E8F0"/>
                </a:solidFill>
                <a:latin typeface="Calibri"/>
              </a:rPr>
              <a:t># Using actions in a workflow step:
steps:
  - uses: actions/checkout@v4
  - uses: actions/setup-node@v4
    with:
      node-version: '20'
  - name: Build </a:t>
            </a:r>
            <a:r>
              <a:rPr sz="1200" dirty="0" err="1">
                <a:solidFill>
                  <a:srgbClr val="E2E8F0"/>
                </a:solidFill>
                <a:latin typeface="Calibri"/>
              </a:rPr>
              <a:t>Docker</a:t>
            </a:r>
            <a:r>
              <a:rPr sz="1200" dirty="0">
                <a:solidFill>
                  <a:srgbClr val="E2E8F0"/>
                </a:solidFill>
                <a:latin typeface="Calibri"/>
              </a:rPr>
              <a:t> image
    uses: </a:t>
            </a:r>
            <a:r>
              <a:rPr sz="1200" dirty="0" err="1">
                <a:solidFill>
                  <a:srgbClr val="E2E8F0"/>
                </a:solidFill>
                <a:latin typeface="Calibri"/>
              </a:rPr>
              <a:t>docker</a:t>
            </a:r>
            <a:r>
              <a:rPr sz="1200" dirty="0">
                <a:solidFill>
                  <a:srgbClr val="E2E8F0"/>
                </a:solidFill>
                <a:latin typeface="Calibri"/>
              </a:rPr>
              <a:t>/build-push-action@v5
    with:
      push: true
      tags: user/</a:t>
            </a:r>
            <a:r>
              <a:rPr sz="1200" dirty="0" err="1">
                <a:solidFill>
                  <a:srgbClr val="E2E8F0"/>
                </a:solidFill>
                <a:latin typeface="Calibri"/>
              </a:rPr>
              <a:t>app:latest</a:t>
            </a:r>
            <a:endParaRPr sz="1200" dirty="0">
              <a:solidFill>
                <a:srgbClr val="E2E8F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4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Runners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91" y="126873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334155"/>
                </a:solidFill>
                <a:latin typeface="Calibri"/>
              </a:rPr>
              <a:t>A runner is a server that runs your workflow when triggered. Each runner handles one job at a time in a FRESH virtual machine — clean state for every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091" y="1988820"/>
            <a:ext cx="26746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344091" y="1988820"/>
            <a:ext cx="267462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12671" y="2125981"/>
            <a:ext cx="24688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671" y="25374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ubuntu-latest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671" y="2846070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Most popular. Best for Linux, Docker, and CI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4451" y="1988820"/>
            <a:ext cx="26746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3224451" y="1988820"/>
            <a:ext cx="267462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3293031" y="2125981"/>
            <a:ext cx="24688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3031" y="25374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Calibri"/>
              </a:rPr>
              <a:t>windows-latest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3031" y="2846070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For Windows builds, .NET, and PowerShell projects.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4811" y="1988820"/>
            <a:ext cx="26746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6104811" y="1988820"/>
            <a:ext cx="2674620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6173391" y="2125981"/>
            <a:ext cx="24688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3391" y="253746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  <a:latin typeface="Calibri"/>
              </a:rPr>
              <a:t>macos-latest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3391" y="2846070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4155"/>
                </a:solidFill>
                <a:latin typeface="Calibri"/>
              </a:rPr>
              <a:t>Required for iOS and macOS application builds.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091" y="3634740"/>
            <a:ext cx="4046220" cy="106299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481251" y="3703320"/>
            <a:ext cx="3771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Calibri"/>
              </a:rPr>
              <a:t>🏠 Self-Hosted Runners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251" y="3991356"/>
            <a:ext cx="37719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334155"/>
                </a:solidFill>
                <a:latin typeface="Calibri"/>
              </a:rPr>
              <a:t>Host your own server for custom OS, special hardware, or private network. Settings → Actions → Runners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1791" y="3634740"/>
            <a:ext cx="4046220" cy="106299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4938951" y="3703320"/>
            <a:ext cx="3771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Calibri"/>
              </a:rPr>
              <a:t>🔢 Matrix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8951" y="3991356"/>
            <a:ext cx="37719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334155"/>
                </a:solidFill>
                <a:latin typeface="Calibri"/>
              </a:rPr>
              <a:t>Run one job on multiple runners in parallel using </a:t>
            </a:r>
            <a:r>
              <a:rPr sz="1100" dirty="0" err="1">
                <a:solidFill>
                  <a:srgbClr val="334155"/>
                </a:solidFill>
                <a:latin typeface="Calibri"/>
              </a:rPr>
              <a:t>strategy.matrix</a:t>
            </a:r>
            <a:r>
              <a:rPr sz="1100" dirty="0">
                <a:solidFill>
                  <a:srgbClr val="334155"/>
                </a:solidFill>
                <a:latin typeface="Calibri"/>
              </a:rPr>
              <a:t> — great for cross-platform testing across Node 18/20, Ubuntu/Windows.</a:t>
            </a:r>
          </a:p>
        </p:txBody>
      </p:sp>
    </p:spTree>
    <p:extLst>
      <p:ext uri="{BB962C8B-B14F-4D97-AF65-F5344CB8AC3E}">
        <p14:creationId xmlns:p14="http://schemas.microsoft.com/office/powerpoint/2010/main" val="3409344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344091" y="82297"/>
            <a:ext cx="6172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5486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Calibri"/>
              </a:rPr>
              <a:t>A Complete Workflow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091" y="1268730"/>
            <a:ext cx="44577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344091" y="1268730"/>
            <a:ext cx="68580" cy="4937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15541" y="1309879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name: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1371" y="1309878"/>
            <a:ext cx="32232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34155"/>
                </a:solidFill>
                <a:latin typeface="Calibri"/>
              </a:rPr>
              <a:t>Human-readable label shown in GitHub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091" y="1831086"/>
            <a:ext cx="44577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344091" y="1831086"/>
            <a:ext cx="68580" cy="493776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515541" y="1872235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066"/>
                </a:solidFill>
                <a:latin typeface="Calibri"/>
              </a:rPr>
              <a:t>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1371" y="1872234"/>
            <a:ext cx="32232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34155"/>
                </a:solidFill>
                <a:latin typeface="Calibri"/>
              </a:rPr>
              <a:t>Event trigger — what starts the workflow (push, PR, cron...)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091" y="2393442"/>
            <a:ext cx="44577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344091" y="2393442"/>
            <a:ext cx="68580" cy="4937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515541" y="2434591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jobs: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1371" y="2434590"/>
            <a:ext cx="32232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34155"/>
                </a:solidFill>
                <a:latin typeface="Calibri"/>
              </a:rPr>
              <a:t>Container for all jobs; each job runs on its own runner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091" y="2955797"/>
            <a:ext cx="44577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344091" y="2955797"/>
            <a:ext cx="68580" cy="4937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515541" y="2996946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runs-on: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1371" y="2996946"/>
            <a:ext cx="32232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34155"/>
                </a:solidFill>
                <a:latin typeface="Calibri"/>
              </a:rPr>
              <a:t>Which runner to use (ubuntu-latest, windows, macos)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091" y="3518154"/>
            <a:ext cx="44577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/>
          <p:cNvSpPr/>
          <p:nvPr/>
        </p:nvSpPr>
        <p:spPr>
          <a:xfrm>
            <a:off x="344091" y="3518154"/>
            <a:ext cx="68580" cy="4937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515541" y="3559303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Calibri"/>
              </a:rPr>
              <a:t>steps: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1371" y="3559302"/>
            <a:ext cx="32232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34155"/>
                </a:solidFill>
                <a:latin typeface="Calibri"/>
              </a:rPr>
              <a:t>Ordered list of actions/scripts to execute inside a job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4091" y="4080510"/>
            <a:ext cx="44577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Rectangle 26"/>
          <p:cNvSpPr/>
          <p:nvPr/>
        </p:nvSpPr>
        <p:spPr>
          <a:xfrm>
            <a:off x="344091" y="4080510"/>
            <a:ext cx="68580" cy="4937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515541" y="4121659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uses: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1371" y="4121658"/>
            <a:ext cx="32232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34155"/>
                </a:solidFill>
                <a:latin typeface="Calibri"/>
              </a:rPr>
              <a:t>Reference a Marketplace action (e.g. actions/checkout@v4)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7531" y="1234440"/>
            <a:ext cx="3909060" cy="3771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5144691" y="1337311"/>
            <a:ext cx="3634740" cy="228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3">
                <a:solidFill>
                  <a:srgbClr val="E2E8F0"/>
                </a:solidFill>
                <a:latin typeface="Calibri"/>
              </a:rPr>
              <a:t># .github/workflows/ci.yml
name: CI Pipeline
on:
  push:
    branches: [main]
  pull_request:
jobs:
  build-and-test:
    runs-on: ubuntu-latest
    steps:
      - uses: actions/checkout@v4
      - uses: actions/setup-node@v4
        with:
          node-version: '20'
      - name: Install deps
        run: npm install
      - name: Run tests
        run: npm test</a:t>
            </a:r>
          </a:p>
        </p:txBody>
      </p:sp>
    </p:spTree>
    <p:extLst>
      <p:ext uri="{BB962C8B-B14F-4D97-AF65-F5344CB8AC3E}">
        <p14:creationId xmlns:p14="http://schemas.microsoft.com/office/powerpoint/2010/main" val="189624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0"/>
            <a:ext cx="9141714" cy="4800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44091" y="617220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1">
                <a:solidFill>
                  <a:srgbClr val="0F172A"/>
                </a:solidFill>
                <a:latin typeface="Calibri"/>
              </a:rPr>
              <a:t>5 Core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5511" y="1337310"/>
            <a:ext cx="1645920" cy="24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275511" y="1337310"/>
            <a:ext cx="1645920" cy="10287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344091" y="1508761"/>
            <a:ext cx="14401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091" y="2057400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091" y="2400301"/>
            <a:ext cx="14401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dirty="0">
                <a:solidFill>
                  <a:srgbClr val="334155"/>
                </a:solidFill>
                <a:latin typeface="Calibri"/>
              </a:rPr>
              <a:t>YAML file that defines the entire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4300" y="1337310"/>
            <a:ext cx="1645920" cy="24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2024300" y="1337310"/>
            <a:ext cx="1645920" cy="102870"/>
          </a:xfrm>
          <a:prstGeom prst="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2092881" y="1508761"/>
            <a:ext cx="14401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2881" y="2057400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97066"/>
                </a:solidFill>
                <a:latin typeface="Calibri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2881" y="2400301"/>
            <a:ext cx="14401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Calibri"/>
              </a:rPr>
              <a:t>What starts the workflow (push, PR, cron)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3091" y="1337310"/>
            <a:ext cx="1645920" cy="24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3773091" y="1337310"/>
            <a:ext cx="1645920" cy="1028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3841671" y="1508761"/>
            <a:ext cx="14401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1671" y="2057400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Calibri"/>
              </a:rPr>
              <a:t>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1671" y="2400301"/>
            <a:ext cx="1440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Calibri"/>
              </a:rPr>
              <a:t>A group of steps on one runner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1881" y="1337310"/>
            <a:ext cx="1645920" cy="24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5521881" y="1337310"/>
            <a:ext cx="1645920" cy="10287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5590461" y="1508761"/>
            <a:ext cx="14401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0461" y="2057400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D28D9"/>
                </a:solidFill>
                <a:latin typeface="Calibri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0461" y="2400301"/>
            <a:ext cx="14401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Calibri"/>
              </a:rPr>
              <a:t>Reusable task unit (Marketplace or custom)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0671" y="1337310"/>
            <a:ext cx="1645920" cy="240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Rectangle 26"/>
          <p:cNvSpPr/>
          <p:nvPr/>
        </p:nvSpPr>
        <p:spPr>
          <a:xfrm>
            <a:off x="7270671" y="1337310"/>
            <a:ext cx="1645920" cy="10287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7339251" y="1508761"/>
            <a:ext cx="144018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>
                <a:solidFill>
                  <a:srgbClr val="0F172A"/>
                </a:solidFill>
                <a:latin typeface="Calibri"/>
              </a:rPr>
              <a:t>🖥️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9251" y="2057400"/>
            <a:ext cx="1440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Calibri"/>
              </a:rPr>
              <a:t>Runner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9251" y="2400301"/>
            <a:ext cx="14401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334155"/>
                </a:solidFill>
                <a:latin typeface="Calibri"/>
              </a:rPr>
              <a:t>VM server that executes the job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091" y="3909060"/>
            <a:ext cx="8455914" cy="7543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481251" y="3991356"/>
            <a:ext cx="81610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🔁 The Flow:  Event triggers → Workflow runs → Jobs execute on Runners → Each step calls an Action or shell command</a:t>
            </a:r>
          </a:p>
        </p:txBody>
      </p:sp>
    </p:spTree>
    <p:extLst>
      <p:ext uri="{BB962C8B-B14F-4D97-AF65-F5344CB8AC3E}">
        <p14:creationId xmlns:p14="http://schemas.microsoft.com/office/powerpoint/2010/main" val="2176486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15" y="1793344"/>
            <a:ext cx="3867150" cy="1268462"/>
          </a:xfrm>
          <a:prstGeom prst="roundRect">
            <a:avLst>
              <a:gd name="adj" fmla="val 8650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1785193"/>
            <a:ext cx="3867150" cy="1268462"/>
          </a:xfrm>
          <a:prstGeom prst="roundRect">
            <a:avLst>
              <a:gd name="adj" fmla="val 8650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4155"/>
            <a:ext cx="3867150" cy="1268462"/>
          </a:xfrm>
          <a:prstGeom prst="roundRect">
            <a:avLst>
              <a:gd name="adj" fmla="val 8650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3244155"/>
            <a:ext cx="3867150" cy="1268462"/>
          </a:xfrm>
          <a:prstGeom prst="roundRect">
            <a:avLst>
              <a:gd name="adj" fmla="val 8650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3088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GitHub Actions CI/CD?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916632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Benefits Over Other CI/CD Tools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800100" y="1975693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🔗 Integrated with Your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2280493"/>
            <a:ext cx="3486150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Already hosting on GitHub? No third-party tool setup. CI/CD lives alongside your repository — zero extra infrastructure to manage.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857750" y="1975693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⚡ Easy Setup — No DevOps Needed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57750" y="2280493"/>
            <a:ext cx="3486150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Designed for developers. No dedicated DevOps engineer required. Pre-configured templates for 50+ technology stacks available.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00100" y="3434655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🧩 10,000+ Marketplace 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" y="3739455"/>
            <a:ext cx="3486150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Community-built integrations for Docker, AWS, GCP, Kubernetes, Slack, Terraform — no plugin installation or configuration required.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857750" y="3434655"/>
            <a:ext cx="3555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🖥️ Multi-OS Matrix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7750" y="3739455"/>
            <a:ext cx="3486150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on Ubuntu, Windows, macOS simultaneously using matrix strategy. Ensures cross-platform compatibility in a single workflow file.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86160"/>
            <a:ext cx="3867150" cy="3796308"/>
          </a:xfrm>
          <a:prstGeom prst="roundRect">
            <a:avLst>
              <a:gd name="adj" fmla="val 19269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2EA44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667250" y="1186160"/>
            <a:ext cx="3867150" cy="422821"/>
          </a:xfrm>
          <a:prstGeom prst="roundRect">
            <a:avLst>
              <a:gd name="adj" fmla="val 21626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704231"/>
            <a:ext cx="3867150" cy="585192"/>
          </a:xfrm>
          <a:prstGeom prst="roundRect">
            <a:avLst>
              <a:gd name="adj" fmla="val 156256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2384673"/>
            <a:ext cx="3867150" cy="585192"/>
          </a:xfrm>
          <a:prstGeom prst="roundRect">
            <a:avLst>
              <a:gd name="adj" fmla="val 156256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0" y="3065115"/>
            <a:ext cx="3867150" cy="585192"/>
          </a:xfrm>
          <a:prstGeom prst="roundRect">
            <a:avLst>
              <a:gd name="adj" fmla="val 156256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0" y="3745557"/>
            <a:ext cx="3867150" cy="585192"/>
          </a:xfrm>
          <a:prstGeom prst="roundRect">
            <a:avLst>
              <a:gd name="adj" fmla="val 156256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46931"/>
            <a:ext cx="8083296" cy="54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Anatomy of a Workflow YAML File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809625" y="1549896"/>
            <a:ext cx="1824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.github/workflows/ci.yml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9625" y="1732657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22623" y="1732657"/>
            <a:ext cx="772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9625" y="2098179"/>
            <a:ext cx="140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7291" y="2280940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4957" y="2463701"/>
            <a:ext cx="561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42046" y="2463701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7291" y="2646462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pull_request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4957" y="2829223"/>
            <a:ext cx="561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42046" y="2829223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9625" y="3194745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7291" y="3377505"/>
            <a:ext cx="350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4957" y="3560266"/>
            <a:ext cx="491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04380" y="3560266"/>
            <a:ext cx="912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ubuntu-latest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4957" y="3743027"/>
            <a:ext cx="350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60140" y="3925788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73138" y="3925788"/>
            <a:ext cx="13337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actions/checkout@v3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60140" y="4108549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73138" y="4108549"/>
            <a:ext cx="1474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actions/setup-java@v3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60140" y="4291310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97806" y="4474071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java-version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1320" y="4474071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'11'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60140" y="4656832"/>
            <a:ext cx="210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04380" y="4656832"/>
            <a:ext cx="10529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build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81550" y="1300460"/>
            <a:ext cx="5829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name: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429250" y="1300460"/>
            <a:ext cx="303670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Human-readable label — shown in the Actions tab</a:t>
            </a:r>
            <a:endParaRPr lang="en-US" sz="936" dirty="0"/>
          </a:p>
        </p:txBody>
      </p:sp>
      <p:sp>
        <p:nvSpPr>
          <p:cNvPr id="36" name="Text 34"/>
          <p:cNvSpPr/>
          <p:nvPr/>
        </p:nvSpPr>
        <p:spPr>
          <a:xfrm>
            <a:off x="4781550" y="1818531"/>
            <a:ext cx="5829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on: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429250" y="1818531"/>
            <a:ext cx="29908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Lists the events that trigger the workflow (push, pull_request, schedule)</a:t>
            </a:r>
            <a:endParaRPr lang="en-US" sz="936" dirty="0"/>
          </a:p>
        </p:txBody>
      </p:sp>
      <p:sp>
        <p:nvSpPr>
          <p:cNvPr id="38" name="Text 36"/>
          <p:cNvSpPr/>
          <p:nvPr/>
        </p:nvSpPr>
        <p:spPr>
          <a:xfrm>
            <a:off x="4781550" y="2498973"/>
            <a:ext cx="5829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jobs: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429250" y="2498973"/>
            <a:ext cx="29908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Named group of steps. Multiple jobs run in parallel on separate Runners</a:t>
            </a:r>
            <a:endParaRPr lang="en-US" sz="936" dirty="0"/>
          </a:p>
        </p:txBody>
      </p:sp>
      <p:sp>
        <p:nvSpPr>
          <p:cNvPr id="40" name="Text 38"/>
          <p:cNvSpPr/>
          <p:nvPr/>
        </p:nvSpPr>
        <p:spPr>
          <a:xfrm>
            <a:off x="4781550" y="3179415"/>
            <a:ext cx="5829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uses: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429250" y="3179415"/>
            <a:ext cx="29908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Reference a pre-built Action from GitHub Marketplace or community repos</a:t>
            </a:r>
            <a:endParaRPr lang="en-US" sz="936" dirty="0"/>
          </a:p>
        </p:txBody>
      </p:sp>
      <p:sp>
        <p:nvSpPr>
          <p:cNvPr id="42" name="Text 40"/>
          <p:cNvSpPr/>
          <p:nvPr/>
        </p:nvSpPr>
        <p:spPr>
          <a:xfrm>
            <a:off x="4781550" y="3859857"/>
            <a:ext cx="5829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run: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429250" y="3859857"/>
            <a:ext cx="29908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Execute a shell command on the Runner. Supports multi-line with pipe |</a:t>
            </a:r>
            <a:endParaRPr lang="en-US" sz="93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22648"/>
            <a:ext cx="2514600" cy="1982688"/>
          </a:xfrm>
          <a:prstGeom prst="roundRect">
            <a:avLst>
              <a:gd name="adj" fmla="val 5534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1422648"/>
            <a:ext cx="2514600" cy="1982688"/>
          </a:xfrm>
          <a:prstGeom prst="roundRect">
            <a:avLst>
              <a:gd name="adj" fmla="val 5534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1422648"/>
            <a:ext cx="2514600" cy="1982688"/>
          </a:xfrm>
          <a:prstGeom prst="roundRect">
            <a:avLst>
              <a:gd name="adj" fmla="val 5534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595836"/>
            <a:ext cx="7924800" cy="1812875"/>
          </a:xfrm>
          <a:prstGeom prst="roundRect">
            <a:avLst>
              <a:gd name="adj" fmla="val 605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4018657"/>
            <a:ext cx="7620000" cy="1237655"/>
          </a:xfrm>
          <a:prstGeom prst="roundRect">
            <a:avLst>
              <a:gd name="adj" fmla="val 59105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2EA44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265063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Execution Environment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20687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GitHub Action Runners</a:t>
            </a:r>
            <a:endParaRPr lang="en-US" sz="3360" dirty="0"/>
          </a:p>
        </p:txBody>
      </p:sp>
      <p:sp>
        <p:nvSpPr>
          <p:cNvPr id="9" name="Text 7"/>
          <p:cNvSpPr/>
          <p:nvPr/>
        </p:nvSpPr>
        <p:spPr>
          <a:xfrm>
            <a:off x="609600" y="736848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manages the servers. Every job gets a </a:t>
            </a: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fresh virtual machine</a:t>
            </a:r>
            <a:r>
              <a:rPr lang="en-US" sz="12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no shared state between runs.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7626" y="1651248"/>
            <a:ext cx="20985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🐧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7626" y="2337048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ubuntu-latest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200" y="2641848"/>
            <a:ext cx="20574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Docker pre-installed. Most popular for CI/CD. Linux environment.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3522726" y="1651248"/>
            <a:ext cx="20985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22726" y="2337048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windows-latest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3300" y="2641848"/>
            <a:ext cx="2057400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PowerShell and cmd available. Windows-specific testing. .NET apps.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6227826" y="1651248"/>
            <a:ext cx="20985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🍎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27826" y="2337048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macos-latest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8400" y="2641848"/>
            <a:ext cx="20574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Xcode available. iOS/macOS app testing. Swift and Objective-C.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762000" y="3748236"/>
            <a:ext cx="777240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Matrix Strategy — Test on all 3 OSes in parallel: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62025" y="4382393"/>
            <a:ext cx="561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9691" y="4565154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7357" y="4747915"/>
            <a:ext cx="140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81596" y="4747915"/>
            <a:ext cx="9124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ubuntu-latest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13868" y="4747915"/>
            <a:ext cx="982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windows-latest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15048" y="4747915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macos-latest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2025" y="4930676"/>
            <a:ext cx="491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81448" y="4930676"/>
            <a:ext cx="1123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${{ matrix.os }}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09042"/>
            <a:ext cx="3867150" cy="4350544"/>
          </a:xfrm>
          <a:prstGeom prst="roundRect">
            <a:avLst>
              <a:gd name="adj" fmla="val 18916"/>
            </a:avLst>
          </a:prstGeom>
          <a:solidFill>
            <a:srgbClr val="000000">
              <a:alpha val="50000"/>
            </a:srgbClr>
          </a:solidFill>
          <a:ln w="9525">
            <a:solidFill>
              <a:srgbClr val="2EA44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909042"/>
            <a:ext cx="3867150" cy="1091059"/>
          </a:xfrm>
          <a:prstGeom prst="roundRect">
            <a:avLst>
              <a:gd name="adj" fmla="val 838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2114401"/>
            <a:ext cx="3867150" cy="912763"/>
          </a:xfrm>
          <a:prstGeom prst="roundRect">
            <a:avLst>
              <a:gd name="adj" fmla="val 10017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3141464"/>
            <a:ext cx="3867150" cy="1091059"/>
          </a:xfrm>
          <a:prstGeom prst="roundRect">
            <a:avLst>
              <a:gd name="adj" fmla="val 838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0" y="4346823"/>
            <a:ext cx="3867150" cy="912763"/>
          </a:xfrm>
          <a:prstGeom prst="roundRect">
            <a:avLst>
              <a:gd name="adj" fmla="val 10017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-11593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169813"/>
            <a:ext cx="8083296" cy="54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Build &amp; Push Docker Image to DockerHub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809625" y="1268016"/>
            <a:ext cx="1979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Docker step to workflow</a:t>
            </a:r>
            <a:endParaRPr lang="en-US" sz="876" dirty="0"/>
          </a:p>
        </p:txBody>
      </p:sp>
      <p:sp>
        <p:nvSpPr>
          <p:cNvPr id="10" name="Text 8"/>
          <p:cNvSpPr/>
          <p:nvPr/>
        </p:nvSpPr>
        <p:spPr>
          <a:xfrm>
            <a:off x="943570" y="1446014"/>
            <a:ext cx="273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76" dirty="0"/>
          </a:p>
        </p:txBody>
      </p:sp>
      <p:sp>
        <p:nvSpPr>
          <p:cNvPr id="11" name="Text 9"/>
          <p:cNvSpPr/>
          <p:nvPr/>
        </p:nvSpPr>
        <p:spPr>
          <a:xfrm>
            <a:off x="1345257" y="1446014"/>
            <a:ext cx="1843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and Push Docker Image</a:t>
            </a:r>
            <a:endParaRPr lang="en-US" sz="876" dirty="0"/>
          </a:p>
        </p:txBody>
      </p:sp>
      <p:sp>
        <p:nvSpPr>
          <p:cNvPr id="12" name="Text 10"/>
          <p:cNvSpPr/>
          <p:nvPr/>
        </p:nvSpPr>
        <p:spPr>
          <a:xfrm>
            <a:off x="943570" y="1624013"/>
            <a:ext cx="273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876" dirty="0"/>
          </a:p>
        </p:txBody>
      </p:sp>
      <p:sp>
        <p:nvSpPr>
          <p:cNvPr id="13" name="Text 11"/>
          <p:cNvSpPr/>
          <p:nvPr/>
        </p:nvSpPr>
        <p:spPr>
          <a:xfrm>
            <a:off x="1345257" y="1624013"/>
            <a:ext cx="15021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mr-smithers-excellent/</a:t>
            </a:r>
            <a:endParaRPr lang="en-US" sz="876" dirty="0"/>
          </a:p>
        </p:txBody>
      </p:sp>
      <p:sp>
        <p:nvSpPr>
          <p:cNvPr id="14" name="Text 12"/>
          <p:cNvSpPr/>
          <p:nvPr/>
        </p:nvSpPr>
        <p:spPr>
          <a:xfrm>
            <a:off x="1479054" y="1802011"/>
            <a:ext cx="1365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docker-build-push@v5</a:t>
            </a:r>
            <a:endParaRPr lang="en-US" sz="876" dirty="0"/>
          </a:p>
        </p:txBody>
      </p:sp>
      <p:sp>
        <p:nvSpPr>
          <p:cNvPr id="15" name="Text 13"/>
          <p:cNvSpPr/>
          <p:nvPr/>
        </p:nvSpPr>
        <p:spPr>
          <a:xfrm>
            <a:off x="943570" y="1980009"/>
            <a:ext cx="273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876" dirty="0"/>
          </a:p>
        </p:txBody>
      </p:sp>
      <p:sp>
        <p:nvSpPr>
          <p:cNvPr id="16" name="Text 14"/>
          <p:cNvSpPr/>
          <p:nvPr/>
        </p:nvSpPr>
        <p:spPr>
          <a:xfrm>
            <a:off x="1077367" y="2158008"/>
            <a:ext cx="3414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876" dirty="0"/>
          </a:p>
        </p:txBody>
      </p:sp>
      <p:sp>
        <p:nvSpPr>
          <p:cNvPr id="17" name="Text 15"/>
          <p:cNvSpPr/>
          <p:nvPr/>
        </p:nvSpPr>
        <p:spPr>
          <a:xfrm>
            <a:off x="1546027" y="2158008"/>
            <a:ext cx="1229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username/java-demo</a:t>
            </a:r>
            <a:endParaRPr lang="en-US" sz="876" dirty="0"/>
          </a:p>
        </p:txBody>
      </p:sp>
      <p:sp>
        <p:nvSpPr>
          <p:cNvPr id="18" name="Text 16"/>
          <p:cNvSpPr/>
          <p:nvPr/>
        </p:nvSpPr>
        <p:spPr>
          <a:xfrm>
            <a:off x="1077367" y="2336006"/>
            <a:ext cx="546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</a:t>
            </a:r>
            <a:endParaRPr lang="en-US" sz="876" dirty="0"/>
          </a:p>
        </p:txBody>
      </p:sp>
      <p:sp>
        <p:nvSpPr>
          <p:cNvPr id="19" name="Text 17"/>
          <p:cNvSpPr/>
          <p:nvPr/>
        </p:nvSpPr>
        <p:spPr>
          <a:xfrm>
            <a:off x="1746796" y="2336006"/>
            <a:ext cx="6145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docker.io</a:t>
            </a:r>
            <a:endParaRPr lang="en-US" sz="876" dirty="0"/>
          </a:p>
        </p:txBody>
      </p:sp>
      <p:sp>
        <p:nvSpPr>
          <p:cNvPr id="20" name="Text 18"/>
          <p:cNvSpPr/>
          <p:nvPr/>
        </p:nvSpPr>
        <p:spPr>
          <a:xfrm>
            <a:off x="1077367" y="2514005"/>
            <a:ext cx="546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876" dirty="0"/>
          </a:p>
        </p:txBody>
      </p:sp>
      <p:sp>
        <p:nvSpPr>
          <p:cNvPr id="21" name="Text 19"/>
          <p:cNvSpPr/>
          <p:nvPr/>
        </p:nvSpPr>
        <p:spPr>
          <a:xfrm>
            <a:off x="1746796" y="2514005"/>
            <a:ext cx="2048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${{ secrets.DOCKER_USERNAME }}</a:t>
            </a:r>
            <a:endParaRPr lang="en-US" sz="876" dirty="0"/>
          </a:p>
        </p:txBody>
      </p:sp>
      <p:sp>
        <p:nvSpPr>
          <p:cNvPr id="22" name="Text 20"/>
          <p:cNvSpPr/>
          <p:nvPr/>
        </p:nvSpPr>
        <p:spPr>
          <a:xfrm>
            <a:off x="1077367" y="2692003"/>
            <a:ext cx="546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876" dirty="0"/>
          </a:p>
        </p:txBody>
      </p:sp>
      <p:sp>
        <p:nvSpPr>
          <p:cNvPr id="23" name="Text 21"/>
          <p:cNvSpPr/>
          <p:nvPr/>
        </p:nvSpPr>
        <p:spPr>
          <a:xfrm>
            <a:off x="1746796" y="2692003"/>
            <a:ext cx="2048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${{ secrets.DOCKER_PASSWORD }}</a:t>
            </a:r>
            <a:endParaRPr lang="en-US" sz="876" dirty="0"/>
          </a:p>
        </p:txBody>
      </p:sp>
      <p:sp>
        <p:nvSpPr>
          <p:cNvPr id="24" name="Text 22"/>
          <p:cNvSpPr/>
          <p:nvPr/>
        </p:nvSpPr>
        <p:spPr>
          <a:xfrm>
            <a:off x="809625" y="3048000"/>
            <a:ext cx="1365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stored in:</a:t>
            </a:r>
            <a:endParaRPr lang="en-US" sz="876" dirty="0"/>
          </a:p>
        </p:txBody>
      </p:sp>
      <p:sp>
        <p:nvSpPr>
          <p:cNvPr id="25" name="Text 23"/>
          <p:cNvSpPr/>
          <p:nvPr/>
        </p:nvSpPr>
        <p:spPr>
          <a:xfrm>
            <a:off x="809625" y="3225998"/>
            <a:ext cx="2184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2"/>
              </a:lnSpc>
              <a:buNone/>
            </a:pPr>
            <a:r>
              <a:rPr lang="en-US" sz="876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Settings -&gt; Secrets -&gt; Actions</a:t>
            </a:r>
            <a:endParaRPr lang="en-US" sz="876" dirty="0"/>
          </a:p>
        </p:txBody>
      </p:sp>
      <p:sp>
        <p:nvSpPr>
          <p:cNvPr id="26" name="Text 24"/>
          <p:cNvSpPr/>
          <p:nvPr/>
        </p:nvSpPr>
        <p:spPr>
          <a:xfrm>
            <a:off x="4819650" y="1061442"/>
            <a:ext cx="363359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🛒 Use a Marketplace Action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819650" y="1312813"/>
            <a:ext cx="3562350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Instead of writing docker login, build, tag, push commands — use a pre-built action that handles all commands internally.</a:t>
            </a:r>
            <a:endParaRPr lang="en-US" sz="936" dirty="0"/>
          </a:p>
        </p:txBody>
      </p:sp>
      <p:sp>
        <p:nvSpPr>
          <p:cNvPr id="28" name="Text 26"/>
          <p:cNvSpPr/>
          <p:nvPr/>
        </p:nvSpPr>
        <p:spPr>
          <a:xfrm>
            <a:off x="4819650" y="2266801"/>
            <a:ext cx="363359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🔐 Secrets Storage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819650" y="2518172"/>
            <a:ext cx="35623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DockerHub credentials in Settings → Secrets. Reference via  — never plain text in YAML.</a:t>
            </a:r>
            <a:endParaRPr lang="en-US" sz="936" dirty="0"/>
          </a:p>
        </p:txBody>
      </p:sp>
      <p:sp>
        <p:nvSpPr>
          <p:cNvPr id="30" name="Text 28"/>
          <p:cNvSpPr/>
          <p:nvPr/>
        </p:nvSpPr>
        <p:spPr>
          <a:xfrm>
            <a:off x="4819650" y="3293864"/>
            <a:ext cx="363359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🐳 Ubuntu = Docker Pre-Installed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4819650" y="3545235"/>
            <a:ext cx="3562350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setup step needed! Ubuntu runners include Docker out-of-the-box — run Docker commands directly in your workflow.</a:t>
            </a:r>
            <a:endParaRPr lang="en-US" sz="936" dirty="0"/>
          </a:p>
        </p:txBody>
      </p:sp>
      <p:sp>
        <p:nvSpPr>
          <p:cNvPr id="32" name="Text 30"/>
          <p:cNvSpPr/>
          <p:nvPr/>
        </p:nvSpPr>
        <p:spPr>
          <a:xfrm>
            <a:off x="4819650" y="4499223"/>
            <a:ext cx="363359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🏷️ Auto Image Tagging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4819650" y="4750594"/>
            <a:ext cx="356235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Default: . Override with  parameter for semantic versioning.</a:t>
            </a:r>
            <a:endParaRPr lang="en-US" sz="9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29655"/>
            <a:ext cx="2514600" cy="1352550"/>
          </a:xfrm>
          <a:prstGeom prst="roundRect">
            <a:avLst>
              <a:gd name="adj" fmla="val 811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1529655"/>
            <a:ext cx="2514600" cy="1352550"/>
          </a:xfrm>
          <a:prstGeom prst="roundRect">
            <a:avLst>
              <a:gd name="adj" fmla="val 811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1529655"/>
            <a:ext cx="2514600" cy="1352550"/>
          </a:xfrm>
          <a:prstGeom prst="roundRect">
            <a:avLst>
              <a:gd name="adj" fmla="val 811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110805"/>
            <a:ext cx="7924800" cy="514350"/>
          </a:xfrm>
          <a:prstGeom prst="roundRect">
            <a:avLst>
              <a:gd name="adj" fmla="val 1777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720405"/>
            <a:ext cx="7924800" cy="514350"/>
          </a:xfrm>
          <a:prstGeom prst="roundRect">
            <a:avLst>
              <a:gd name="adj" fmla="val 1777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4330005"/>
            <a:ext cx="7924800" cy="514350"/>
          </a:xfrm>
          <a:prstGeom prst="roundRect">
            <a:avLst>
              <a:gd name="adj" fmla="val 1777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0352" y="584895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GitHub Actions at Scale</a:t>
            </a:r>
            <a:endParaRPr lang="en-US" sz="3360" dirty="0"/>
          </a:p>
        </p:txBody>
      </p:sp>
      <p:sp>
        <p:nvSpPr>
          <p:cNvPr id="10" name="Text 8"/>
          <p:cNvSpPr/>
          <p:nvPr/>
        </p:nvSpPr>
        <p:spPr>
          <a:xfrm>
            <a:off x="817626" y="1758255"/>
            <a:ext cx="2098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7626" y="2482155"/>
            <a:ext cx="2098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Marketplace Actions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2726" y="1758255"/>
            <a:ext cx="2098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2726" y="2482155"/>
            <a:ext cx="2098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Runner OS Options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27826" y="1758255"/>
            <a:ext cx="2098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27826" y="2482155"/>
            <a:ext cx="2098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Extra Servers Needed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3225105"/>
            <a:ext cx="1628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5993" y="3270796"/>
            <a:ext cx="6213203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YAML lives in your repo — versioned, reviewable, auditable like any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3834705"/>
            <a:ext cx="1628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5993" y="3880396"/>
            <a:ext cx="609415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Free for public repos; 2,000 minutes/month for private repos on GitHub Free plan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4444305"/>
            <a:ext cx="1628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35993" y="4489996"/>
            <a:ext cx="633070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Self-hosted runners available when GitHub-managed servers don't meet your needs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1506</Words>
  <Application>Microsoft Office PowerPoint</Application>
  <PresentationFormat>On-screen Show (16:9)</PresentationFormat>
  <Paragraphs>292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Instrument Serif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HP</cp:lastModifiedBy>
  <cp:revision>8</cp:revision>
  <dcterms:created xsi:type="dcterms:W3CDTF">2026-06-16T12:58:02Z</dcterms:created>
  <dcterms:modified xsi:type="dcterms:W3CDTF">2026-06-16T13:39:56Z</dcterms:modified>
</cp:coreProperties>
</file>